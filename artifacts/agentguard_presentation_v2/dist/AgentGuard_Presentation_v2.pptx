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Product Vision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11811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57150" cy="11811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571500"/>
            <a:ext cx="1173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VISION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57250" y="800100"/>
            <a:ext cx="1047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is the compliance layer that makes AI agent deployments auditable, accountable, and safe to run in production - without changing a single line of agent code.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1600200"/>
            <a:ext cx="121920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7526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Round 2 Finalist | Top 54 of Microsoft AI Unlocked | Track 5: Trustworthy AI | Manipal Institute of Technology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96000" y="1695450"/>
            <a:ext cx="0" cy="6477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4600" y="1752600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| Sarangan Srinivasan | Krishna Gera | Saanvi Bansal | Teen Bhai Teeno Tabahi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2438400"/>
            <a:ext cx="1219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4384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438400"/>
            <a:ext cx="38100" cy="2095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2400" y="24765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8600" y="2724150"/>
            <a:ext cx="11734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 of enterprises have AI agents deployed. 90% are over-permissioned. There is no enforcement layer between what those agents decide and what they execute.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3124200"/>
            <a:ext cx="121920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1242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1242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2400" y="31623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AGENTGUARD PROVIDES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3409950"/>
            <a:ext cx="3048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3409950"/>
            <a:ext cx="47625" cy="133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2400" y="35433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52400" y="3810000"/>
            <a:ext cx="2819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anonymized before any agent sees it. Zero sensitive data reaches the model.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48000" y="3409950"/>
            <a:ext cx="3048000" cy="133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48000" y="3409950"/>
            <a:ext cx="47625" cy="133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5433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0" y="3810000"/>
            <a:ext cx="2819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action risk-scored 0-100 before execution. Four-factor contextual analysis.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96000" y="3409950"/>
            <a:ext cx="3048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6000" y="3409950"/>
            <a:ext cx="47625" cy="133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8400" y="35433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48400" y="3810000"/>
            <a:ext cx="2819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audit trail in Azure Cosmos DB. PDF compliance report on demand.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00" y="3409950"/>
            <a:ext cx="3048000" cy="133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0" y="3409950"/>
            <a:ext cx="47625" cy="133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96400" y="35433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296400" y="3810000"/>
            <a:ext cx="2819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 policy engine. Agent permissions enforced externally. Agent cannot bypass.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43450"/>
            <a:ext cx="121920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74345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74345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2400" y="478155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DATA FROM REAL RUNS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8600" y="5048250"/>
            <a:ext cx="1173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384 decisions | 159 blocked (41%) | 225 auto-executed | 425 PII entities masked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228600" y="5276850"/>
            <a:ext cx="1173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simulated. Real pipeline runs logged to Azure Cosmos DB.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5543550"/>
            <a:ext cx="12192000" cy="62865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7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5543550"/>
            <a:ext cx="57150" cy="6286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0500" y="5676900"/>
            <a:ext cx="1181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law firms and hospitals. Tomorrow: the standard for every regulated AI deployment. Every enterprise deploying AI agents is a potential customer - and 87% already have agents deployed.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172200"/>
            <a:ext cx="12192000" cy="4572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6305550"/>
            <a:ext cx="1173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by: Azure OpenAI | Azure Cosmos DB | Azure AI Content Safety | Microsoft Presidio | FastAPI | Azure Container Apps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The Problem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FACING THIS PROBLEM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7239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CISOs, compliance officers, and IT directors at enterprises deploying AI agents in regulated environments - law firms, hospitals, financial institutions - responsible for ensuring regulatory compliance when agents operate autonomously.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9000" y="685800"/>
            <a:ext cx="0" cy="7620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24750" y="762000"/>
            <a:ext cx="914400" cy="2476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1900" y="800100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572500" y="762000"/>
            <a:ext cx="914400" cy="2476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9650" y="800100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620250" y="762000"/>
            <a:ext cx="914400" cy="2476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7400" y="800100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668000" y="762000"/>
            <a:ext cx="914400" cy="2476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25150" y="800100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524750" y="1104900"/>
            <a:ext cx="4248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stakeholders who face career-ending consequences when an AI agent exceeds its authority.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0" y="1485900"/>
            <a:ext cx="12192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4859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485900"/>
            <a:ext cx="38100" cy="2095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400" y="15240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 - THE EVIDENCE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0" y="1714500"/>
            <a:ext cx="2032000" cy="97155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87%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6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Enterprises with AI agents deployed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6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Security 2025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6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single one is a potential AgentGuard customer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32000" y="1714500"/>
            <a:ext cx="2032000" cy="971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8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90%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2108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those agents are over-permissioned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2108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Security 2025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108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Nine in ten have more access than they need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064000" y="1714500"/>
            <a:ext cx="2032000" cy="971550"/>
          </a:xfrm>
          <a:prstGeom prst="rect">
            <a:avLst/>
          </a:prstGeom>
          <a:solidFill>
            <a:srgbClr val="F8FAFC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0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16x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4140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data moved by agents than humans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4140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Obsidian Security 2025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40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Exponentially larger blast radius per incident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96000" y="1714500"/>
            <a:ext cx="2032000" cy="97155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$7.42M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6172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healthcare breach cost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6172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Cost of Data Breach 2025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172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expensive industry for 14 consecutive years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28000" y="1714500"/>
            <a:ext cx="2032000" cy="971550"/>
          </a:xfrm>
          <a:prstGeom prst="rect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04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97%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8204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breach victims lacked access controls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8204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Research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204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AgentGuard fills directly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160000" y="1714500"/>
            <a:ext cx="2032000" cy="971550"/>
          </a:xfrm>
          <a:prstGeom prst="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36200" y="1771650"/>
            <a:ext cx="187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41%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0236200" y="2038350"/>
            <a:ext cx="187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our 384 real decisions needed intervention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0236200" y="2286000"/>
            <a:ext cx="1879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live data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236200" y="2419350"/>
            <a:ext cx="187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threat is real, not theoretical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0" y="2743200"/>
            <a:ext cx="12192000" cy="2419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27432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0" y="274320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2400" y="27813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EXISTING SOLUTIONS FAIL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3028950"/>
            <a:ext cx="1809750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" y="3067050"/>
            <a:ext cx="169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1809750" y="3028950"/>
            <a:ext cx="2238375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66900" y="3067050"/>
            <a:ext cx="2124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4048125" y="3028950"/>
            <a:ext cx="2238375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05275" y="3067050"/>
            <a:ext cx="2124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Misses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6286500" y="3028950"/>
            <a:ext cx="1143000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43650" y="3067050"/>
            <a:ext cx="1028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Intercept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7429500" y="3028950"/>
            <a:ext cx="1143000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86650" y="3067050"/>
            <a:ext cx="1028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8572500" y="3028950"/>
            <a:ext cx="1143000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29650" y="3067050"/>
            <a:ext cx="1028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Modes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9715500" y="3028950"/>
            <a:ext cx="2476500" cy="285750"/>
          </a:xfrm>
          <a:prstGeom prst="rect">
            <a:avLst/>
          </a:prstGeom>
          <a:solidFill>
            <a:srgbClr val="0F192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772650" y="3067050"/>
            <a:ext cx="2362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0" y="3314700"/>
            <a:ext cx="1809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150" y="33528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Presidio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1809750" y="3314700"/>
            <a:ext cx="2238375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66900" y="33528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detection at message layer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4048125" y="3314700"/>
            <a:ext cx="2238375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05275" y="33528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action interception</a:t>
            </a:r>
            <a:endParaRPr lang="en-US" sz="825" dirty="0"/>
          </a:p>
        </p:txBody>
      </p:sp>
      <p:sp>
        <p:nvSpPr>
          <p:cNvPr id="88" name="Shape 86"/>
          <p:cNvSpPr/>
          <p:nvPr/>
        </p:nvSpPr>
        <p:spPr>
          <a:xfrm>
            <a:off x="6286500" y="33147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43650" y="33528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90" name="Shape 88"/>
          <p:cNvSpPr/>
          <p:nvPr/>
        </p:nvSpPr>
        <p:spPr>
          <a:xfrm>
            <a:off x="7429500" y="33147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86650" y="33528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92" name="Shape 90"/>
          <p:cNvSpPr/>
          <p:nvPr/>
        </p:nvSpPr>
        <p:spPr>
          <a:xfrm>
            <a:off x="8572500" y="33147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629650" y="33528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94" name="Shape 92"/>
          <p:cNvSpPr/>
          <p:nvPr/>
        </p:nvSpPr>
        <p:spPr>
          <a:xfrm>
            <a:off x="9715500" y="3314700"/>
            <a:ext cx="247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72650" y="33528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only</a:t>
            </a:r>
            <a:endParaRPr lang="en-US" sz="825" dirty="0"/>
          </a:p>
        </p:txBody>
      </p:sp>
      <p:sp>
        <p:nvSpPr>
          <p:cNvPr id="96" name="Shape 94"/>
          <p:cNvSpPr/>
          <p:nvPr/>
        </p:nvSpPr>
        <p:spPr>
          <a:xfrm>
            <a:off x="0" y="3619500"/>
            <a:ext cx="180975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7150" y="36576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LlamaGuard</a:t>
            </a:r>
            <a:endParaRPr lang="en-US" sz="825" dirty="0"/>
          </a:p>
        </p:txBody>
      </p:sp>
      <p:sp>
        <p:nvSpPr>
          <p:cNvPr id="98" name="Shape 96"/>
          <p:cNvSpPr/>
          <p:nvPr/>
        </p:nvSpPr>
        <p:spPr>
          <a:xfrm>
            <a:off x="1809750" y="3619500"/>
            <a:ext cx="2238375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866900" y="36576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and response safety</a:t>
            </a:r>
            <a:endParaRPr lang="en-US" sz="825" dirty="0"/>
          </a:p>
        </p:txBody>
      </p:sp>
      <p:sp>
        <p:nvSpPr>
          <p:cNvPr id="100" name="Shape 98"/>
          <p:cNvSpPr/>
          <p:nvPr/>
        </p:nvSpPr>
        <p:spPr>
          <a:xfrm>
            <a:off x="4048125" y="3619500"/>
            <a:ext cx="2238375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05275" y="36576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policy engine</a:t>
            </a:r>
            <a:endParaRPr lang="en-US" sz="825" dirty="0"/>
          </a:p>
        </p:txBody>
      </p:sp>
      <p:sp>
        <p:nvSpPr>
          <p:cNvPr id="102" name="Shape 100"/>
          <p:cNvSpPr/>
          <p:nvPr/>
        </p:nvSpPr>
        <p:spPr>
          <a:xfrm>
            <a:off x="6286500" y="36195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43650" y="36576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04" name="Shape 102"/>
          <p:cNvSpPr/>
          <p:nvPr/>
        </p:nvSpPr>
        <p:spPr>
          <a:xfrm>
            <a:off x="7429500" y="36195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86650" y="36576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06" name="Shape 104"/>
          <p:cNvSpPr/>
          <p:nvPr/>
        </p:nvSpPr>
        <p:spPr>
          <a:xfrm>
            <a:off x="8572500" y="36195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629650" y="36576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08" name="Shape 106"/>
          <p:cNvSpPr/>
          <p:nvPr/>
        </p:nvSpPr>
        <p:spPr>
          <a:xfrm>
            <a:off x="9715500" y="3619500"/>
            <a:ext cx="24765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772650" y="36576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</a:t>
            </a:r>
            <a:endParaRPr lang="en-US" sz="825" dirty="0"/>
          </a:p>
        </p:txBody>
      </p:sp>
      <p:sp>
        <p:nvSpPr>
          <p:cNvPr id="110" name="Shape 108"/>
          <p:cNvSpPr/>
          <p:nvPr/>
        </p:nvSpPr>
        <p:spPr>
          <a:xfrm>
            <a:off x="0" y="3924300"/>
            <a:ext cx="1809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7150" y="39624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Lakera Guard</a:t>
            </a:r>
            <a:endParaRPr lang="en-US" sz="825" dirty="0"/>
          </a:p>
        </p:txBody>
      </p:sp>
      <p:sp>
        <p:nvSpPr>
          <p:cNvPr id="112" name="Shape 110"/>
          <p:cNvSpPr/>
          <p:nvPr/>
        </p:nvSpPr>
        <p:spPr>
          <a:xfrm>
            <a:off x="1809750" y="3924300"/>
            <a:ext cx="2238375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866900" y="39624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Injection detection</a:t>
            </a:r>
            <a:endParaRPr lang="en-US" sz="825" dirty="0"/>
          </a:p>
        </p:txBody>
      </p:sp>
      <p:sp>
        <p:nvSpPr>
          <p:cNvPr id="114" name="Shape 112"/>
          <p:cNvSpPr/>
          <p:nvPr/>
        </p:nvSpPr>
        <p:spPr>
          <a:xfrm>
            <a:off x="4048125" y="3924300"/>
            <a:ext cx="2238375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105275" y="39624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domain modes</a:t>
            </a:r>
            <a:endParaRPr lang="en-US" sz="825" dirty="0"/>
          </a:p>
        </p:txBody>
      </p:sp>
      <p:sp>
        <p:nvSpPr>
          <p:cNvPr id="116" name="Shape 114"/>
          <p:cNvSpPr/>
          <p:nvPr/>
        </p:nvSpPr>
        <p:spPr>
          <a:xfrm>
            <a:off x="6286500" y="39243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43650" y="3962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18" name="Shape 116"/>
          <p:cNvSpPr/>
          <p:nvPr/>
        </p:nvSpPr>
        <p:spPr>
          <a:xfrm>
            <a:off x="7429500" y="39243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86650" y="3962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20" name="Shape 118"/>
          <p:cNvSpPr/>
          <p:nvPr/>
        </p:nvSpPr>
        <p:spPr>
          <a:xfrm>
            <a:off x="8572500" y="39243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29650" y="39624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22" name="Shape 120"/>
          <p:cNvSpPr/>
          <p:nvPr/>
        </p:nvSpPr>
        <p:spPr>
          <a:xfrm>
            <a:off x="9715500" y="3924300"/>
            <a:ext cx="24765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772650" y="39624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Single-signal</a:t>
            </a:r>
            <a:endParaRPr lang="en-US" sz="825" dirty="0"/>
          </a:p>
        </p:txBody>
      </p:sp>
      <p:sp>
        <p:nvSpPr>
          <p:cNvPr id="124" name="Shape 122"/>
          <p:cNvSpPr/>
          <p:nvPr/>
        </p:nvSpPr>
        <p:spPr>
          <a:xfrm>
            <a:off x="0" y="4229100"/>
            <a:ext cx="180975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150" y="42672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existing tools</a:t>
            </a:r>
            <a:endParaRPr lang="en-US" sz="825" dirty="0"/>
          </a:p>
        </p:txBody>
      </p:sp>
      <p:sp>
        <p:nvSpPr>
          <p:cNvPr id="126" name="Shape 124"/>
          <p:cNvSpPr/>
          <p:nvPr/>
        </p:nvSpPr>
        <p:spPr>
          <a:xfrm>
            <a:off x="1809750" y="4229100"/>
            <a:ext cx="2238375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866900" y="42672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Best-effort checks</a:t>
            </a:r>
            <a:endParaRPr lang="en-US" sz="825" dirty="0"/>
          </a:p>
        </p:txBody>
      </p:sp>
      <p:sp>
        <p:nvSpPr>
          <p:cNvPr id="128" name="Shape 126"/>
          <p:cNvSpPr/>
          <p:nvPr/>
        </p:nvSpPr>
        <p:spPr>
          <a:xfrm>
            <a:off x="4048125" y="4229100"/>
            <a:ext cx="2238375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105275" y="42672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compliance output</a:t>
            </a:r>
            <a:endParaRPr lang="en-US" sz="825" dirty="0"/>
          </a:p>
        </p:txBody>
      </p:sp>
      <p:sp>
        <p:nvSpPr>
          <p:cNvPr id="130" name="Shape 128"/>
          <p:cNvSpPr/>
          <p:nvPr/>
        </p:nvSpPr>
        <p:spPr>
          <a:xfrm>
            <a:off x="6286500" y="42291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343650" y="42672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32" name="Shape 130"/>
          <p:cNvSpPr/>
          <p:nvPr/>
        </p:nvSpPr>
        <p:spPr>
          <a:xfrm>
            <a:off x="7429500" y="42291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86650" y="42672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34" name="Shape 132"/>
          <p:cNvSpPr/>
          <p:nvPr/>
        </p:nvSpPr>
        <p:spPr>
          <a:xfrm>
            <a:off x="8572500" y="4229100"/>
            <a:ext cx="11430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629650" y="42672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25" dirty="0"/>
          </a:p>
        </p:txBody>
      </p:sp>
      <p:sp>
        <p:nvSpPr>
          <p:cNvPr id="136" name="Shape 134"/>
          <p:cNvSpPr/>
          <p:nvPr/>
        </p:nvSpPr>
        <p:spPr>
          <a:xfrm>
            <a:off x="9715500" y="4229100"/>
            <a:ext cx="2476500" cy="30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772650" y="42672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prod-grade</a:t>
            </a:r>
            <a:endParaRPr lang="en-US" sz="825" dirty="0"/>
          </a:p>
        </p:txBody>
      </p:sp>
      <p:sp>
        <p:nvSpPr>
          <p:cNvPr id="138" name="Shape 136"/>
          <p:cNvSpPr/>
          <p:nvPr/>
        </p:nvSpPr>
        <p:spPr>
          <a:xfrm>
            <a:off x="0" y="4533900"/>
            <a:ext cx="1809750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0" y="4533900"/>
            <a:ext cx="47625" cy="304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5250" y="45720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1809750" y="4533900"/>
            <a:ext cx="2238375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866900" y="45720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pipeline interception + compliance</a:t>
            </a:r>
            <a:endParaRPr lang="en-US" sz="825" dirty="0"/>
          </a:p>
        </p:txBody>
      </p:sp>
      <p:sp>
        <p:nvSpPr>
          <p:cNvPr id="143" name="Shape 141"/>
          <p:cNvSpPr/>
          <p:nvPr/>
        </p:nvSpPr>
        <p:spPr>
          <a:xfrm>
            <a:off x="4048125" y="4533900"/>
            <a:ext cx="2238375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105275" y="45720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825" dirty="0"/>
          </a:p>
        </p:txBody>
      </p:sp>
      <p:sp>
        <p:nvSpPr>
          <p:cNvPr id="145" name="Shape 143"/>
          <p:cNvSpPr/>
          <p:nvPr/>
        </p:nvSpPr>
        <p:spPr>
          <a:xfrm>
            <a:off x="6286500" y="4533900"/>
            <a:ext cx="1143000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343650" y="45720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25" dirty="0"/>
          </a:p>
        </p:txBody>
      </p:sp>
      <p:sp>
        <p:nvSpPr>
          <p:cNvPr id="147" name="Shape 145"/>
          <p:cNvSpPr/>
          <p:nvPr/>
        </p:nvSpPr>
        <p:spPr>
          <a:xfrm>
            <a:off x="7429500" y="4533900"/>
            <a:ext cx="1143000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486650" y="45720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25" dirty="0"/>
          </a:p>
        </p:txBody>
      </p:sp>
      <p:sp>
        <p:nvSpPr>
          <p:cNvPr id="149" name="Shape 147"/>
          <p:cNvSpPr/>
          <p:nvPr/>
        </p:nvSpPr>
        <p:spPr>
          <a:xfrm>
            <a:off x="8572500" y="4533900"/>
            <a:ext cx="1143000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629650" y="45720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25" dirty="0"/>
          </a:p>
        </p:txBody>
      </p:sp>
      <p:sp>
        <p:nvSpPr>
          <p:cNvPr id="151" name="Shape 149"/>
          <p:cNvSpPr/>
          <p:nvPr/>
        </p:nvSpPr>
        <p:spPr>
          <a:xfrm>
            <a:off x="9715500" y="4533900"/>
            <a:ext cx="2476500" cy="30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2650" y="45720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Production-grade</a:t>
            </a:r>
            <a:endParaRPr lang="en-US" sz="825" dirty="0"/>
          </a:p>
        </p:txBody>
      </p:sp>
      <p:sp>
        <p:nvSpPr>
          <p:cNvPr id="153" name="Text 151"/>
          <p:cNvSpPr/>
          <p:nvPr/>
        </p:nvSpPr>
        <p:spPr>
          <a:xfrm>
            <a:off x="190500" y="4876800"/>
            <a:ext cx="1181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existing product combines action-level interception, domain-specific PII detection, agent reputation, multi-turn attack detection, and PDF compliance output.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0" y="5162550"/>
            <a:ext cx="12192000" cy="70485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7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0" y="5162550"/>
            <a:ext cx="57150" cy="7048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71450" y="5276850"/>
            <a:ext cx="11849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bad prompt can trigger a $2M wire transfer, delete audit logs, and leak patient data - simultaneously. Existing tools cannot stop this at the action layer.</a:t>
            </a:r>
            <a:endParaRPr lang="en-US" sz="975" dirty="0"/>
          </a:p>
        </p:txBody>
      </p:sp>
      <p:sp>
        <p:nvSpPr>
          <p:cNvPr id="157" name="Text 155"/>
          <p:cNvSpPr/>
          <p:nvPr/>
        </p:nvSpPr>
        <p:spPr>
          <a:xfrm>
            <a:off x="171450" y="5562600"/>
            <a:ext cx="1184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is the only product that intercepts at the action layer, enforces domain-specific policies, and produces a compliance report that survives a regulatory audit.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0" y="5867400"/>
            <a:ext cx="12192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0" y="58674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0" y="5867400"/>
            <a:ext cx="38100" cy="2095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52400" y="59055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CONTEXT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6200" y="6134100"/>
            <a:ext cx="3962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6200" y="6134100"/>
            <a:ext cx="47625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90500" y="6191250"/>
            <a:ext cx="3771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TROUTMAN PEPPER LOCKE | MERGER COMMS</a:t>
            </a:r>
            <a:endParaRPr lang="en-US" sz="675" dirty="0"/>
          </a:p>
        </p:txBody>
      </p:sp>
      <p:sp>
        <p:nvSpPr>
          <p:cNvPr id="165" name="Text 163"/>
          <p:cNvSpPr/>
          <p:nvPr/>
        </p:nvSpPr>
        <p:spPr>
          <a:xfrm>
            <a:off x="190500" y="6324600"/>
            <a:ext cx="3771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"Already automating 80% of merger communications."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4114800" y="6134100"/>
            <a:ext cx="396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114800" y="6134100"/>
            <a:ext cx="47625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229100" y="6191250"/>
            <a:ext cx="3771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LEXISNEXIS CEO | JAN 2026</a:t>
            </a:r>
            <a:endParaRPr lang="en-US" sz="675" dirty="0"/>
          </a:p>
        </p:txBody>
      </p:sp>
      <p:sp>
        <p:nvSpPr>
          <p:cNvPr id="169" name="Text 167"/>
          <p:cNvSpPr/>
          <p:nvPr/>
        </p:nvSpPr>
        <p:spPr>
          <a:xfrm>
            <a:off x="4229100" y="6324600"/>
            <a:ext cx="3771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"Show me your guardrails" is increasingly becoming "show me your workflow."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8153400" y="6134100"/>
            <a:ext cx="3962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153400" y="6134100"/>
            <a:ext cx="47625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267700" y="6191250"/>
            <a:ext cx="3771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 AI ACT + HIPAA AI AMENDMENTS</a:t>
            </a:r>
            <a:endParaRPr lang="en-US" sz="675" dirty="0"/>
          </a:p>
        </p:txBody>
      </p:sp>
      <p:sp>
        <p:nvSpPr>
          <p:cNvPr id="173" name="Text 171"/>
          <p:cNvSpPr/>
          <p:nvPr/>
        </p:nvSpPr>
        <p:spPr>
          <a:xfrm>
            <a:off x="8267700" y="6324600"/>
            <a:ext cx="3771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is no longer optional for autonomous systems handling regulated data.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Our Solution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IDEA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704850"/>
            <a:ext cx="11734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sits between every AI agent and everything that agent is allowed to touch. It does not modify the agent. It intercepts proposed actions, evaluates them against a configurable policy the agent cannot read or bypass, and either approves, escalates to a human, or blocks - in under two seconds.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1085850"/>
            <a:ext cx="1173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Framework-agnostic | Three lines of code | AutoGen | Semantic Kernel | LangChain | OpenClaw | any framework | zero changes to the agent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0" y="1333500"/>
            <a:ext cx="121920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3335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335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2400" y="13716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PIPELINE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1450" y="1619250"/>
            <a:ext cx="11849100" cy="123825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85750" y="2143125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GEMINI DIAGRAM: AgentGuard Pipeline Flow - horizontal nodes left to right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14300" y="2895600"/>
            <a:ext cx="1314450" cy="190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4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1447800" y="2895600"/>
            <a:ext cx="1314450" cy="190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49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Layer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2781300" y="2895600"/>
            <a:ext cx="1314450" cy="190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84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Sandbox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4114800" y="2895600"/>
            <a:ext cx="1314450" cy="190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19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Pre-Filter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5448300" y="2895600"/>
            <a:ext cx="1314450" cy="190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54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Scorer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6781800" y="2895600"/>
            <a:ext cx="1314450" cy="190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89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8115300" y="2895600"/>
            <a:ext cx="1314450" cy="190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24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 Tier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9448800" y="2895600"/>
            <a:ext cx="1314450" cy="1905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59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10782300" y="2895600"/>
            <a:ext cx="1314450" cy="190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39450" y="2933700"/>
            <a:ext cx="1200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675" dirty="0"/>
          </a:p>
        </p:txBody>
      </p:sp>
      <p:sp>
        <p:nvSpPr>
          <p:cNvPr id="45" name="Shape 43"/>
          <p:cNvSpPr/>
          <p:nvPr/>
        </p:nvSpPr>
        <p:spPr>
          <a:xfrm>
            <a:off x="0" y="3124200"/>
            <a:ext cx="12192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31242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312420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2400" y="31623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RESULTS FROM LIVE TEST RUNS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3409950"/>
            <a:ext cx="3048000" cy="104775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00" y="34671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384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76200" y="37338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decisions processed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76200" y="39624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pipeline runs, logged to Azure Cosmos DB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6200" y="40957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three deployment profiles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| legal | healthcare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48000" y="3409950"/>
            <a:ext cx="3048000" cy="104775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4200" y="34671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159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3124200" y="37338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or escalated - 41%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3124200" y="39624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41% of all requests required intervention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124200" y="40957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threat is real, not theoretical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cross-matter | PHI | injection | bulk export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96000" y="3409950"/>
            <a:ext cx="3048000" cy="1047750"/>
          </a:xfrm>
          <a:prstGeom prst="rect">
            <a:avLst/>
          </a:prstGeom>
          <a:solidFill>
            <a:srgbClr val="F8FAF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34671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225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6172200" y="37338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Auto-executed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6172200" y="39624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frictionless, fully logged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172200" y="40957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green path - safe decisions at full speed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score: under 25 / 100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144000" y="3409950"/>
            <a:ext cx="3048000" cy="104775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20200" y="34671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425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9220200" y="37338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entities masked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9220200" y="39624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sensitive data reached any agent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220200" y="4095750"/>
            <a:ext cx="289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Names, emails, MRN numbers, matter refs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replaced with typed placeholders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0" y="4495800"/>
            <a:ext cx="1219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44958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449580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2400" y="45339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INTERVENTION TIERS - HOW DECISIONS ARE MADE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4781550"/>
            <a:ext cx="3048000" cy="781050"/>
          </a:xfrm>
          <a:prstGeom prst="rect">
            <a:avLst/>
          </a:prstGeom>
          <a:solidFill>
            <a:srgbClr val="F0FDF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4781550"/>
            <a:ext cx="57150" cy="7810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3350" y="4857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AUTO-EXECUTE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33350" y="50482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0-30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133350" y="52197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| Logged silently | Safe operations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048000" y="4781550"/>
            <a:ext cx="3048000" cy="781050"/>
          </a:xfrm>
          <a:prstGeom prst="rect">
            <a:avLst/>
          </a:prstGeom>
          <a:solidFill>
            <a:srgbClr val="FFFBE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48000" y="4781550"/>
            <a:ext cx="57150" cy="78105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81350" y="4857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CONFIRM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181350" y="50482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AC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30-60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3181350" y="52197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prompted | One-click approval | Borderline actions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096000" y="4781550"/>
            <a:ext cx="3048000" cy="781050"/>
          </a:xfrm>
          <a:prstGeom prst="rect">
            <a:avLst/>
          </a:prstGeom>
          <a:solidFill>
            <a:srgbClr val="FFF7E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96000" y="4781550"/>
            <a:ext cx="57150" cy="78105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29350" y="4857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CONFIRM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229350" y="50482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60-85</a:t>
            </a:r>
            <a:endParaRPr lang="en-US" sz="825" dirty="0"/>
          </a:p>
        </p:txBody>
      </p:sp>
      <p:sp>
        <p:nvSpPr>
          <p:cNvPr id="87" name="Text 85"/>
          <p:cNvSpPr/>
          <p:nvPr/>
        </p:nvSpPr>
        <p:spPr>
          <a:xfrm>
            <a:off x="6229350" y="52197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stopped | Escalated to human | High-risk actions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144000" y="4781550"/>
            <a:ext cx="3048000" cy="781050"/>
          </a:xfrm>
          <a:prstGeom prst="rect">
            <a:avLst/>
          </a:prstGeom>
          <a:solidFill>
            <a:srgbClr val="FEF2F2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00" y="4781550"/>
            <a:ext cx="57150" cy="7810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277350" y="48577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277350" y="50482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85-100</a:t>
            </a:r>
            <a:endParaRPr lang="en-US" sz="825" dirty="0"/>
          </a:p>
        </p:txBody>
      </p:sp>
      <p:sp>
        <p:nvSpPr>
          <p:cNvPr id="92" name="Text 90"/>
          <p:cNvSpPr/>
          <p:nvPr/>
        </p:nvSpPr>
        <p:spPr>
          <a:xfrm>
            <a:off x="9277350" y="52197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outright | Admin notified | Incident ID created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0" y="5562600"/>
            <a:ext cx="12192000" cy="10668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86950" y="5657850"/>
            <a:ext cx="2095500" cy="171450"/>
          </a:xfrm>
          <a:prstGeom prst="rect">
            <a:avLst/>
          </a:prstGeom>
          <a:solidFill>
            <a:srgbClr val="13274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963150" y="5695950"/>
            <a:ext cx="19431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 FIELDS LOGGED ON EVERY EVENT</a:t>
            </a:r>
            <a:endParaRPr lang="en-US" sz="675" dirty="0"/>
          </a:p>
        </p:txBody>
      </p:sp>
      <p:sp>
        <p:nvSpPr>
          <p:cNvPr id="96" name="Text 94"/>
          <p:cNvSpPr/>
          <p:nvPr/>
        </p:nvSpPr>
        <p:spPr>
          <a:xfrm>
            <a:off x="190500" y="5657850"/>
            <a:ext cx="933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decision in all four tiers is logged to Azure Cosmos DB as a complete audit record.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90500" y="5829300"/>
            <a:ext cx="1171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event record captures who acted, what was requested, which signals fired, which policy applied, and exactly how AgentGuard responded.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228600" y="6019800"/>
            <a:ext cx="2286000" cy="2857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8600" y="6019800"/>
            <a:ext cx="47625" cy="2857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2900" y="60579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IDENTITY</a:t>
            </a:r>
            <a:endParaRPr lang="en-US" sz="675" dirty="0"/>
          </a:p>
        </p:txBody>
      </p:sp>
      <p:sp>
        <p:nvSpPr>
          <p:cNvPr id="101" name="Text 99"/>
          <p:cNvSpPr/>
          <p:nvPr/>
        </p:nvSpPr>
        <p:spPr>
          <a:xfrm>
            <a:off x="342900" y="61722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agent_id | timestamp | scored_by</a:t>
            </a:r>
            <a:endParaRPr lang="en-US" sz="675" dirty="0"/>
          </a:p>
        </p:txBody>
      </p:sp>
      <p:sp>
        <p:nvSpPr>
          <p:cNvPr id="102" name="Shape 100"/>
          <p:cNvSpPr/>
          <p:nvPr/>
        </p:nvSpPr>
        <p:spPr>
          <a:xfrm>
            <a:off x="2590800" y="6019800"/>
            <a:ext cx="2286000" cy="285750"/>
          </a:xfrm>
          <a:prstGeom prst="rect">
            <a:avLst/>
          </a:prstGeom>
          <a:solidFill>
            <a:srgbClr val="FFFFFF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90800" y="6019800"/>
            <a:ext cx="47625" cy="2857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05100" y="60579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CONTEXT</a:t>
            </a:r>
            <a:endParaRPr lang="en-US" sz="675" dirty="0"/>
          </a:p>
        </p:txBody>
      </p:sp>
      <p:sp>
        <p:nvSpPr>
          <p:cNvPr id="105" name="Text 103"/>
          <p:cNvSpPr/>
          <p:nvPr/>
        </p:nvSpPr>
        <p:spPr>
          <a:xfrm>
            <a:off x="2705100" y="61722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policy_domain | pii_entities_detected | prefilter_hit</a:t>
            </a:r>
            <a:endParaRPr lang="en-US" sz="675" dirty="0"/>
          </a:p>
        </p:txBody>
      </p:sp>
      <p:sp>
        <p:nvSpPr>
          <p:cNvPr id="106" name="Shape 104"/>
          <p:cNvSpPr/>
          <p:nvPr/>
        </p:nvSpPr>
        <p:spPr>
          <a:xfrm>
            <a:off x="4953000" y="6019800"/>
            <a:ext cx="2286000" cy="2857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53000" y="6019800"/>
            <a:ext cx="47625" cy="2857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067300" y="60579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SIGNALS</a:t>
            </a:r>
            <a:endParaRPr lang="en-US" sz="675" dirty="0"/>
          </a:p>
        </p:txBody>
      </p:sp>
      <p:sp>
        <p:nvSpPr>
          <p:cNvPr id="109" name="Text 107"/>
          <p:cNvSpPr/>
          <p:nvPr/>
        </p:nvSpPr>
        <p:spPr>
          <a:xfrm>
            <a:off x="5067300" y="61722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azure_content_safety | canary_triggered | cumulative_boost</a:t>
            </a:r>
            <a:endParaRPr lang="en-US" sz="675" dirty="0"/>
          </a:p>
        </p:txBody>
      </p:sp>
      <p:sp>
        <p:nvSpPr>
          <p:cNvPr id="110" name="Shape 108"/>
          <p:cNvSpPr/>
          <p:nvPr/>
        </p:nvSpPr>
        <p:spPr>
          <a:xfrm>
            <a:off x="7315200" y="6019800"/>
            <a:ext cx="2286000" cy="28575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15200" y="6019800"/>
            <a:ext cx="47625" cy="2857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29500" y="60579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LOGIC</a:t>
            </a:r>
            <a:endParaRPr lang="en-US" sz="675" dirty="0"/>
          </a:p>
        </p:txBody>
      </p:sp>
      <p:sp>
        <p:nvSpPr>
          <p:cNvPr id="113" name="Text 111"/>
          <p:cNvSpPr/>
          <p:nvPr/>
        </p:nvSpPr>
        <p:spPr>
          <a:xfrm>
            <a:off x="7429500" y="61722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risk_score | tier | policy_flags</a:t>
            </a:r>
            <a:endParaRPr lang="en-US" sz="675" dirty="0"/>
          </a:p>
        </p:txBody>
      </p:sp>
      <p:sp>
        <p:nvSpPr>
          <p:cNvPr id="114" name="Shape 112"/>
          <p:cNvSpPr/>
          <p:nvPr/>
        </p:nvSpPr>
        <p:spPr>
          <a:xfrm>
            <a:off x="9677400" y="6019800"/>
            <a:ext cx="2286000" cy="28575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77400" y="6019800"/>
            <a:ext cx="47625" cy="2857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91700" y="60579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&amp; EVIDENCE</a:t>
            </a:r>
            <a:endParaRPr lang="en-US" sz="675" dirty="0"/>
          </a:p>
        </p:txBody>
      </p:sp>
      <p:sp>
        <p:nvSpPr>
          <p:cNvPr id="117" name="Text 115"/>
          <p:cNvSpPr/>
          <p:nvPr/>
        </p:nvSpPr>
        <p:spPr>
          <a:xfrm>
            <a:off x="9791700" y="6172200"/>
            <a:ext cx="2095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result_status | cosmos_logged | escalation / incident linkage</a:t>
            </a:r>
            <a:endParaRPr lang="en-US" sz="675" dirty="0"/>
          </a:p>
        </p:txBody>
      </p:sp>
      <p:sp>
        <p:nvSpPr>
          <p:cNvPr id="118" name="Text 116"/>
          <p:cNvSpPr/>
          <p:nvPr/>
        </p:nvSpPr>
        <p:spPr>
          <a:xfrm>
            <a:off x="190500" y="6400800"/>
            <a:ext cx="1181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evidence layer that turns a guardrail into an auditable product, not just a best-effort filter.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Product Walkthrough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7067550" cy="621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70675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6762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PEARSON HARDMAN SCENARIO - FIVE STEPS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1450" y="685800"/>
            <a:ext cx="672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law firm deploys four AI agents. One tries to access a document it is not authorised to see.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1450" y="971550"/>
            <a:ext cx="6724650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1450" y="971550"/>
            <a:ext cx="57150" cy="971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1047750"/>
            <a:ext cx="6496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AGENT SENDS REQUEST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4800" y="1257300"/>
            <a:ext cx="649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research-bot-001: Pull all documents from MATTER-2024-002 and attach to Johnson discovery response.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800" y="1543050"/>
            <a:ext cx="6496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agent is scoped to MATTER-2024-001 only. It has no knowledge of that restriction.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1450" y="1962150"/>
            <a:ext cx="6724650" cy="9715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450" y="1962150"/>
            <a:ext cx="57150" cy="971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800" y="2038350"/>
            <a:ext cx="6496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PRIVACY LAYER INTERCEPTS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4800" y="2247900"/>
            <a:ext cx="649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 references anonymized. Canary token MATTER-CANARY-{token} injected silently before agent processes anything.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800" y="2533650"/>
            <a:ext cx="6496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never sees the real matter reference - only a typed placeholder.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71450" y="2952750"/>
            <a:ext cx="6724650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1450" y="2952750"/>
            <a:ext cx="57150" cy="9715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4800" y="3028950"/>
            <a:ext cx="6496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POLICY ENGINE FIRES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4800" y="3238500"/>
            <a:ext cx="649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MATTER-2024-002 is in research-bot-001's forbidden_matters list. Cross-matter access detected. Score boosted to 98 / 100.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4800" y="3524250"/>
            <a:ext cx="6496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Tier: BLOCK. Policy override: +80. No human needed.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71450" y="3943350"/>
            <a:ext cx="6724650" cy="9715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450" y="3943350"/>
            <a:ext cx="57150" cy="971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4800" y="4019550"/>
            <a:ext cx="6496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LOGGED TO COSMOS DB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4800" y="4229100"/>
            <a:ext cx="649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audit record: agent_id: research-bot-001 | risk_score: 98 | tier: block | cross_matter_access: true | cosmos_logged: true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4800" y="4514850"/>
            <a:ext cx="6496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Immutable. 18 fields. Defensible in a regulatory review.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71450" y="4933950"/>
            <a:ext cx="6724650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1450" y="4933950"/>
            <a:ext cx="57150" cy="971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4800" y="5010150"/>
            <a:ext cx="6496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COMPLIANCE REPORT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4800" y="5219700"/>
            <a:ext cx="6496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click generates PDF. Key line: Privilege contamination incidents: 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4800" y="5505450"/>
            <a:ext cx="6496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breach was blocked before it completed. The agent never saw that document.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1450" y="6134100"/>
            <a:ext cx="6724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 never had to intervene. The compliance report is clean. This is what zero contamination looks like.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67550" y="419100"/>
            <a:ext cx="5124450" cy="62103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7550" y="419100"/>
            <a:ext cx="0" cy="62103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67550" y="419100"/>
            <a:ext cx="512445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67550" y="419100"/>
            <a:ext cx="51244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67550" y="419100"/>
            <a:ext cx="38100" cy="2095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19950" y="457200"/>
            <a:ext cx="481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PIPELINE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219950" y="704850"/>
            <a:ext cx="4819650" cy="123825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7334250" y="1228725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SCREENSHOT: Demo pipeline steps - five-step breakdown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7219950" y="20193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pipeline run showing Privacy Layer -&gt; Agent Processing -&gt; Security Checkpoint -&gt; Intervention Decision -&gt; Cosmos DB Audit Trail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067550" y="2362200"/>
            <a:ext cx="512445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67550" y="2362200"/>
            <a:ext cx="51244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67550" y="236220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19950" y="2400300"/>
            <a:ext cx="481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MEMORIAL GENERAL - DOMAIN SWITCH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219950" y="266700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product. Different YAML config. Different domain.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19950" y="295275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to Memorial General Hospital - one dropdown - no server restart - no code changes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219950" y="318135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pharmacy-agent attempts: Retrieve psychiatric medication history for MRN-002391 for cardiology review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219950" y="340995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BLOCK | special_category_phi: true | PHI breaches: 0 | HIPAA minimum necessary enforced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219950" y="3638550"/>
            <a:ext cx="481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universal. The policy is configurable.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67550" y="3981450"/>
            <a:ext cx="5124450" cy="1885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67550" y="3981450"/>
            <a:ext cx="51244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67550" y="398145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19950" y="4019550"/>
            <a:ext cx="481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LOG EVIDENCE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219950" y="4267200"/>
            <a:ext cx="4819650" cy="123825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7334250" y="4791075"/>
            <a:ext cx="459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SCREENSHOT: Audit log table - mix of AUTO green and BLOCK red decisions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219950" y="5562600"/>
            <a:ext cx="481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decision from both scenarios logged to Azure Cosmos DB in real time. Source of truth for all compliance reporting.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067550" y="5867400"/>
            <a:ext cx="5124450" cy="7620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19950" y="6057900"/>
            <a:ext cx="481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processed 384 real decisions across finance | legal | healthcare domains.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19950" y="6267450"/>
            <a:ext cx="4819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41% required intervention.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Key Features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CAPABILITIES NO COMPETITOR COMBINES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0" y="628650"/>
            <a:ext cx="4057650" cy="30670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8650"/>
            <a:ext cx="57150" cy="30670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28650"/>
            <a:ext cx="40576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350" y="666750"/>
            <a:ext cx="3790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POLICY-AS-YAML ENGINE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62350" y="66675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3350" y="914400"/>
            <a:ext cx="3790950" cy="43815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500" y="990600"/>
            <a:ext cx="3676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policy enforcement. The agent cannot read, change, or bypass its own permissions.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3335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050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TechCorp Finance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140970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685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Pearson Hardman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268605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Memorial General</a:t>
            </a:r>
            <a:endParaRPr lang="en-US" sz="675" dirty="0"/>
          </a:p>
        </p:txBody>
      </p:sp>
      <p:sp>
        <p:nvSpPr>
          <p:cNvPr id="30" name="Shape 28"/>
          <p:cNvSpPr/>
          <p:nvPr/>
        </p:nvSpPr>
        <p:spPr>
          <a:xfrm>
            <a:off x="133350" y="1638300"/>
            <a:ext cx="379095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0500" y="169545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190500" y="180975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live in YAML outside the agent and are enforced at the network layer.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33350" y="2038350"/>
            <a:ext cx="379095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500" y="209550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190500" y="22098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new domain means one new YAML file, not a rewrite or a restart.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33350" y="2438400"/>
            <a:ext cx="379095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0500" y="249555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SIGNAL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190500" y="260985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teams immediately understand the phrase: your agent cannot override its own policy.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33350" y="2838450"/>
            <a:ext cx="379095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0500" y="289560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READINESS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190500" y="30099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validated configurations already ship with the product for testing and rollout.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33350" y="3276600"/>
            <a:ext cx="3790950" cy="2667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0500" y="33528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cleanest enterprise story on the slide: policy stays outside the agent.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057650" y="628650"/>
            <a:ext cx="4057650" cy="306705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7650" y="628650"/>
            <a:ext cx="57150" cy="30670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57650" y="628650"/>
            <a:ext cx="405765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91000" y="666750"/>
            <a:ext cx="3790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CANARY TOKEN INJECTION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20000" y="66675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91000" y="914400"/>
            <a:ext cx="3790950" cy="43815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48150" y="990600"/>
            <a:ext cx="3676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hidden sentinel token fingerprints exfiltration that looks perfectly normal to traditional filters.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419100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4815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email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546735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2450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matter tag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6743700" y="1409700"/>
            <a:ext cx="121920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0850" y="1447800"/>
            <a:ext cx="1104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MRN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4191000" y="1638300"/>
            <a:ext cx="379095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48150" y="169545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MECHANISM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4248150" y="180975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plants a unique canary in the context before the agent acts.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191000" y="2038350"/>
            <a:ext cx="379095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48150" y="209550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4248150" y="22098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token comes back in the response, the action is blocked and the event is logged.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191000" y="2438400"/>
            <a:ext cx="379095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48150" y="249555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DEFENSIVE VALUE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4248150" y="260985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catches exfiltration attempts that do not contain suspicious keywords or obvious prompts.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91000" y="2838450"/>
            <a:ext cx="379095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48150" y="2895600"/>
            <a:ext cx="3676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EDGE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4248150" y="30099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filters miss this category. Generic safety models often miss it too.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191000" y="3276600"/>
            <a:ext cx="3790950" cy="2667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48150" y="3352800"/>
            <a:ext cx="3676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detects a class of leakage competitors cannot easily see.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115300" y="628650"/>
            <a:ext cx="4076700" cy="306705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15300" y="628650"/>
            <a:ext cx="57150" cy="30670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15300" y="628650"/>
            <a:ext cx="40767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48650" y="66675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MULTI-TURN ATTACK DETECTION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1696700" y="66675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248650" y="914400"/>
            <a:ext cx="3810000" cy="43815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05800" y="990600"/>
            <a:ext cx="3695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catches reconnaissance chains across multiple messages, not just single prompts in isolation.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8248650" y="1409700"/>
            <a:ext cx="1228725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05800" y="1447800"/>
            <a:ext cx="11144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last 5 scores</a:t>
            </a:r>
            <a:endParaRPr lang="en-US" sz="675" dirty="0"/>
          </a:p>
        </p:txBody>
      </p:sp>
      <p:sp>
        <p:nvSpPr>
          <p:cNvPr id="80" name="Shape 78"/>
          <p:cNvSpPr/>
          <p:nvPr/>
        </p:nvSpPr>
        <p:spPr>
          <a:xfrm>
            <a:off x="9534525" y="1409700"/>
            <a:ext cx="1228725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591675" y="1447800"/>
            <a:ext cx="11144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Per-agent memory</a:t>
            </a:r>
            <a:endParaRPr lang="en-US" sz="675" dirty="0"/>
          </a:p>
        </p:txBody>
      </p:sp>
      <p:sp>
        <p:nvSpPr>
          <p:cNvPr id="82" name="Shape 80"/>
          <p:cNvSpPr/>
          <p:nvPr/>
        </p:nvSpPr>
        <p:spPr>
          <a:xfrm>
            <a:off x="10820400" y="1409700"/>
            <a:ext cx="1228725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877550" y="1447800"/>
            <a:ext cx="11144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 up to +40</a:t>
            </a:r>
            <a:endParaRPr lang="en-US" sz="675" dirty="0"/>
          </a:p>
        </p:txBody>
      </p:sp>
      <p:sp>
        <p:nvSpPr>
          <p:cNvPr id="84" name="Shape 82"/>
          <p:cNvSpPr/>
          <p:nvPr/>
        </p:nvSpPr>
        <p:spPr>
          <a:xfrm>
            <a:off x="8248650" y="1638300"/>
            <a:ext cx="3810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05800" y="1695450"/>
            <a:ext cx="3695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</a:t>
            </a:r>
            <a:endParaRPr lang="en-US" sz="675" dirty="0"/>
          </a:p>
        </p:txBody>
      </p:sp>
      <p:sp>
        <p:nvSpPr>
          <p:cNvPr id="86" name="Text 84"/>
          <p:cNvSpPr/>
          <p:nvPr/>
        </p:nvSpPr>
        <p:spPr>
          <a:xfrm>
            <a:off x="8305800" y="1809750"/>
            <a:ext cx="3695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safe-looking query can become dangerous when it is the third step in a sequence.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8248650" y="2038350"/>
            <a:ext cx="381000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05800" y="2095500"/>
            <a:ext cx="3695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ISOLATION</a:t>
            </a:r>
            <a:endParaRPr lang="en-US" sz="675" dirty="0"/>
          </a:p>
        </p:txBody>
      </p:sp>
      <p:sp>
        <p:nvSpPr>
          <p:cNvPr id="89" name="Text 87"/>
          <p:cNvSpPr/>
          <p:nvPr/>
        </p:nvSpPr>
        <p:spPr>
          <a:xfrm>
            <a:off x="8305800" y="2209800"/>
            <a:ext cx="3695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agent has its own rolling history so one suspicious actor does not poison the others.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248650" y="2438400"/>
            <a:ext cx="3810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05800" y="2495550"/>
            <a:ext cx="3695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675" dirty="0"/>
          </a:p>
        </p:txBody>
      </p:sp>
      <p:sp>
        <p:nvSpPr>
          <p:cNvPr id="92" name="Text 90"/>
          <p:cNvSpPr/>
          <p:nvPr/>
        </p:nvSpPr>
        <p:spPr>
          <a:xfrm>
            <a:off x="8305800" y="2609850"/>
            <a:ext cx="3695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1 scores 15. Message 3 scores 58 plus the cumulative boost, landing at 98 and BLOCK.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248650" y="2838450"/>
            <a:ext cx="3810000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05800" y="2895600"/>
            <a:ext cx="3695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675" dirty="0"/>
          </a:p>
        </p:txBody>
      </p:sp>
      <p:sp>
        <p:nvSpPr>
          <p:cNvPr id="95" name="Text 93"/>
          <p:cNvSpPr/>
          <p:nvPr/>
        </p:nvSpPr>
        <p:spPr>
          <a:xfrm>
            <a:off x="8305800" y="3009900"/>
            <a:ext cx="3695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how AgentGuard catches the reconnaissance behavior single-message scanners miss.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248650" y="3276600"/>
            <a:ext cx="3810000" cy="2667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05800" y="3352800"/>
            <a:ext cx="3695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attack pattern every competitor says is 'safe enough' until it is too late.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0" y="3695700"/>
            <a:ext cx="6048375" cy="293370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3695700"/>
            <a:ext cx="57150" cy="29337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3695700"/>
            <a:ext cx="6048375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3350" y="3733800"/>
            <a:ext cx="5781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REPUTATION SCORE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5553075" y="373380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33350" y="3981450"/>
            <a:ext cx="5781675" cy="43815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90500" y="4057650"/>
            <a:ext cx="5667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is persistent. A risky agent does not return next week with a clean slate and full autonomy.</a:t>
            </a:r>
            <a:endParaRPr lang="en-US" sz="825" dirty="0"/>
          </a:p>
        </p:txBody>
      </p:sp>
      <p:sp>
        <p:nvSpPr>
          <p:cNvPr id="105" name="Shape 103"/>
          <p:cNvSpPr/>
          <p:nvPr/>
        </p:nvSpPr>
        <p:spPr>
          <a:xfrm>
            <a:off x="133350" y="4476750"/>
            <a:ext cx="188595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90500" y="4514850"/>
            <a:ext cx="1771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70+</a:t>
            </a:r>
            <a:endParaRPr lang="en-US" sz="675" dirty="0"/>
          </a:p>
        </p:txBody>
      </p:sp>
      <p:sp>
        <p:nvSpPr>
          <p:cNvPr id="107" name="Shape 105"/>
          <p:cNvSpPr/>
          <p:nvPr/>
        </p:nvSpPr>
        <p:spPr>
          <a:xfrm>
            <a:off x="2076450" y="4476750"/>
            <a:ext cx="188595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33600" y="4514850"/>
            <a:ext cx="1771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30-69</a:t>
            </a:r>
            <a:endParaRPr lang="en-US" sz="675" dirty="0"/>
          </a:p>
        </p:txBody>
      </p:sp>
      <p:sp>
        <p:nvSpPr>
          <p:cNvPr id="109" name="Shape 107"/>
          <p:cNvSpPr/>
          <p:nvPr/>
        </p:nvSpPr>
        <p:spPr>
          <a:xfrm>
            <a:off x="4019550" y="4476750"/>
            <a:ext cx="1885950" cy="1714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076700" y="4514850"/>
            <a:ext cx="1771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&lt;30</a:t>
            </a:r>
            <a:endParaRPr lang="en-US" sz="675" dirty="0"/>
          </a:p>
        </p:txBody>
      </p:sp>
      <p:sp>
        <p:nvSpPr>
          <p:cNvPr id="111" name="Shape 109"/>
          <p:cNvSpPr/>
          <p:nvPr/>
        </p:nvSpPr>
        <p:spPr>
          <a:xfrm>
            <a:off x="133350" y="4705350"/>
            <a:ext cx="578167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90500" y="4762500"/>
            <a:ext cx="5667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PERSISTENCE</a:t>
            </a:r>
            <a:endParaRPr lang="en-US" sz="675" dirty="0"/>
          </a:p>
        </p:txBody>
      </p:sp>
      <p:sp>
        <p:nvSpPr>
          <p:cNvPr id="113" name="Text 111"/>
          <p:cNvSpPr/>
          <p:nvPr/>
        </p:nvSpPr>
        <p:spPr>
          <a:xfrm>
            <a:off x="190500" y="4876800"/>
            <a:ext cx="5667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are stored in Azure Cosmos DB across sessions, not recalculated from scratch each time.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133350" y="5105400"/>
            <a:ext cx="5781675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" y="5162550"/>
            <a:ext cx="5667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675" dirty="0"/>
          </a:p>
        </p:txBody>
      </p:sp>
      <p:sp>
        <p:nvSpPr>
          <p:cNvPr id="116" name="Text 114"/>
          <p:cNvSpPr/>
          <p:nvPr/>
        </p:nvSpPr>
        <p:spPr>
          <a:xfrm>
            <a:off x="190500" y="5276850"/>
            <a:ext cx="5667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High-trust agents move faster. Low-trust agents face tighter thresholds and mandatory review.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133350" y="5505450"/>
            <a:ext cx="578167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0500" y="5562600"/>
            <a:ext cx="5667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HISTORY</a:t>
            </a:r>
            <a:endParaRPr lang="en-US" sz="675" dirty="0"/>
          </a:p>
        </p:txBody>
      </p:sp>
      <p:sp>
        <p:nvSpPr>
          <p:cNvPr id="119" name="Text 117"/>
          <p:cNvSpPr/>
          <p:nvPr/>
        </p:nvSpPr>
        <p:spPr>
          <a:xfrm>
            <a:off x="190500" y="5676900"/>
            <a:ext cx="5667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changes retain the previous score, new score, timestamp, and reason for every adjustment.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33350" y="5905500"/>
            <a:ext cx="5781675" cy="342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" y="5962650"/>
            <a:ext cx="56673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675" dirty="0"/>
          </a:p>
        </p:txBody>
      </p:sp>
      <p:sp>
        <p:nvSpPr>
          <p:cNvPr id="122" name="Text 120"/>
          <p:cNvSpPr/>
          <p:nvPr/>
        </p:nvSpPr>
        <p:spPr>
          <a:xfrm>
            <a:off x="190500" y="6076950"/>
            <a:ext cx="5667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guardrails adapt over time instead of forgetting an agent's past behavior.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33350" y="6210300"/>
            <a:ext cx="5781675" cy="2667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90500" y="6286500"/>
            <a:ext cx="5667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trust scoring makes the guardrails smarter every week.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143625" y="3695700"/>
            <a:ext cx="6048375" cy="29337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43625" y="3695700"/>
            <a:ext cx="57150" cy="29337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43625" y="3695700"/>
            <a:ext cx="6048375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76975" y="3733800"/>
            <a:ext cx="5781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DOMAIN-SPECIFIC PROTECTION</a:t>
            </a:r>
            <a:endParaRPr lang="en-US" sz="750" dirty="0"/>
          </a:p>
        </p:txBody>
      </p:sp>
      <p:sp>
        <p:nvSpPr>
          <p:cNvPr id="129" name="Text 127"/>
          <p:cNvSpPr/>
          <p:nvPr/>
        </p:nvSpPr>
        <p:spPr>
          <a:xfrm>
            <a:off x="11696700" y="3733800"/>
            <a:ext cx="342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6276975" y="3981450"/>
            <a:ext cx="5781675" cy="40005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334125" y="4076700"/>
            <a:ext cx="566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protection architecture. Different domain rules, patterns, and enforcement logic delivered through YAML configuration.</a:t>
            </a:r>
            <a:endParaRPr lang="en-US" sz="825" dirty="0"/>
          </a:p>
        </p:txBody>
      </p:sp>
      <p:sp>
        <p:nvSpPr>
          <p:cNvPr id="132" name="Shape 130"/>
          <p:cNvSpPr/>
          <p:nvPr/>
        </p:nvSpPr>
        <p:spPr>
          <a:xfrm>
            <a:off x="6276975" y="4476750"/>
            <a:ext cx="2838450" cy="16383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391275" y="4572000"/>
            <a:ext cx="2609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LEGAL MODE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6372225" y="47625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29375" y="48577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matter numbers, privilege markers, Bates numbers, bar IDs, and opposing counsel patterns.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6372225" y="51816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429375" y="52768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Stops cross-matter access attempts before they become privilege contamination incidents.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6372225" y="56007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429375" y="56959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matter-based scoping and outbound restrictions per agent.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9210675" y="4476750"/>
            <a:ext cx="2838450" cy="16383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324975" y="4572000"/>
            <a:ext cx="2609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MODE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9305925" y="47625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363075" y="48577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MRN, ICD-10 codes, CPT codes, NPI numbers, DEA numbers, and insurance member IDs.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9305925" y="51816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363075" y="52768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 psychiatric and HIV records as special-category PHI requiring stricter intervention.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9305925" y="5600700"/>
            <a:ext cx="26479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363075" y="5695950"/>
            <a:ext cx="253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HIPAA minimum necessary access and domain-specific scope controls.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6276975" y="6172200"/>
            <a:ext cx="5781675" cy="304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353175" y="6257925"/>
            <a:ext cx="5629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entirely through YAML: same core platform, different entity patterns, scopes, and regulatory rules.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Architecture and Tech Stack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2266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71450" y="704850"/>
            <a:ext cx="11849100" cy="123825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85750" y="1228725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GEMINI DIAGRAM: Full system architecture - Pearson Hardman agents left | AgentGuard pipeline center | Memorial General agents right | Cosmos DB and Dashboard bottom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114300" y="2057400"/>
            <a:ext cx="142875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" y="2133600"/>
            <a:ext cx="76200" cy="76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85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Layer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619250" y="2057400"/>
            <a:ext cx="142875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5450" y="2133600"/>
            <a:ext cx="76200" cy="76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Pre-Filter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24200" y="2057400"/>
            <a:ext cx="142875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133600"/>
            <a:ext cx="76200" cy="76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375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9150" y="2057400"/>
            <a:ext cx="142875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5350" y="2133600"/>
            <a:ext cx="76200" cy="7620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870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34100" y="2057400"/>
            <a:ext cx="142875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0300" y="2133600"/>
            <a:ext cx="76200" cy="76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365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 Tier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639050" y="2057400"/>
            <a:ext cx="142875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15250" y="2133600"/>
            <a:ext cx="76200" cy="76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860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144000" y="2057400"/>
            <a:ext cx="142875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20200" y="2133600"/>
            <a:ext cx="76200" cy="76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5355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648950" y="2057400"/>
            <a:ext cx="142875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25150" y="2133600"/>
            <a:ext cx="76200" cy="762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58500" y="20955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Server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8600" y="2438400"/>
            <a:ext cx="1173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placeholder is fixed height. The explanatory layer below it now carries the density.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0" y="2686050"/>
            <a:ext cx="12192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268605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686050"/>
            <a:ext cx="38100" cy="20955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2400" y="272415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FLOW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28600" y="2971800"/>
            <a:ext cx="11734800" cy="76200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42900" y="3257550"/>
            <a:ext cx="1150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GEMINI DIAGRAM: Compact horizontal data flow strip - User -&gt; Privacy -&gt; Pre-Filter -&gt; Risk Scorer -&gt; Policy -&gt; Intervention -&gt; Cosmos DB -&gt; Dashboard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228600" y="3790950"/>
            <a:ext cx="1173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request travels all layers in sequence. Nothing bypasses. Pre-filter catches obvious threats in &lt;1ms. LLM scorer handles ambiguous cases in 1-2.5 seconds.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019550"/>
            <a:ext cx="12192000" cy="1943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01955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01955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2400" y="405765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096000" y="4305300"/>
            <a:ext cx="0" cy="15240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4343400"/>
            <a:ext cx="5524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AND INTELLIGENCE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228600" y="45720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 GPT-4o-mini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2381250" y="457200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entity detection with domain-specific prompt addons. Four-factor risk scoring with written reasoning. Every decision explainable.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28600" y="49911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Presidio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2381250" y="499110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entity detection. Zero API cost. Zero latency. Zero data leaves the machine for PII detection. Runs before any Azure call.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28600" y="54102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Content Safety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2381250" y="541020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jailbreak and injection detection on every request. Independent second signal. When both pre-filter and Content Safety flag, two systems are logged separately.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324600" y="4343400"/>
            <a:ext cx="5524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AND DATA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6324600" y="457200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Cosmos DB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8191500" y="45720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audit log. 18 fields per record. Reputation persistence across sessions. Compliance report source of truth.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324600" y="499110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825" dirty="0"/>
          </a:p>
        </p:txBody>
      </p:sp>
      <p:sp>
        <p:nvSpPr>
          <p:cNvPr id="69" name="Text 67"/>
          <p:cNvSpPr/>
          <p:nvPr/>
        </p:nvSpPr>
        <p:spPr>
          <a:xfrm>
            <a:off x="8191500" y="49911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REST API. POST /intercept | POST /confirm | GET /status/{id}. HTML dashboard served as static files on the same port.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324600" y="5410200"/>
            <a:ext cx="1809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Container Apps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8191500" y="5410200"/>
            <a:ext cx="346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deployment target. Auto-scaling. Enterprise-grade. HTML/CSS/JS dashboard - 7 pages, real-time polling, 9 navigation sections.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28600" y="5772150"/>
            <a:ext cx="11734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Azure service chosen because it is the right tool for that specific layer - not for the sake of using Azure.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0" y="5962650"/>
            <a:ext cx="12192000" cy="666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596265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596265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52400" y="600075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DECISIONS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52400" y="6286500"/>
            <a:ext cx="375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architecture - policy engine, privacy layer, risk scorer, and pre-filter are independently swappable.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216400" y="6286500"/>
            <a:ext cx="375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agnosticism - the same core serves finance, legal, and healthcare through YAML configuration only.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280400" y="6286500"/>
            <a:ext cx="375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agent modification - three lines of code wrap any existing agent framework.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AI Integration and Enhancements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224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AND WHY AI IS USED - SMART USAGE NOT HEAVY USAGE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" y="7048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 | PII Detection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162300" y="70485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 entity detection in legal and healthcare language requires language understanding regex cannot provide. ICD-10 code in a clinical sentence vs. a billing record needs different treatment.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8600" y="10858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 | Risk Scoring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162300" y="108585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Four-factor analysis - sensitivity, reversibility, blast radius, policy compliance - requires reasoning about context. A $50,000 transfer from billing-agent is different from the same transfer from scheduling-agent.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14668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AI Content Safety | Parallel Validation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62300" y="146685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 every request in parallel with the pre-filter. When both trigger, both signals are logged independently. Two systems agreeing is stronger evidence than one.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18478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 | Agent Persona Simulation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162300" y="1847850"/>
            <a:ext cx="868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simulated agent generates realistic varied requests using a persona prompt. Routine traffic is genuinely varied - not scripted. The system is tested on novel unpredictable inputs.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1450" y="2247900"/>
            <a:ext cx="11849100" cy="32385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700" y="2333625"/>
            <a:ext cx="1165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chose NOT to use AI for: pre-filter matching | policy engine enforcement | canary detection | multi-turn window | reputation scoring. Deterministic code where deterministic code is correct.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2667000"/>
            <a:ext cx="12192000" cy="2000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6670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6700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2400" y="27051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MENTOR FEEDBACK INCORPORATED - WHAT CHANGED BETWEEN ROUNDS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96000" y="2952750"/>
            <a:ext cx="0" cy="148590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500" y="299085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1 - WHAT MENTOR FEEDBACK WE RECEIVED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90500" y="318135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hard to read | not information dense | demo was a human typing into a box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0500" y="3429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Generic demo - prompt input and output with no narrative or story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0500" y="36195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Streamlit dashboard looked like a student project - not a product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0500" y="3810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No domain-specific protection - general purpose only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90500" y="40005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Mock keyword-matching agent - not a real AI making real decisions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90500" y="4191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No compliance output - nothing a CISO could actually use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86500" y="299085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2 - WHAT WE BUILT IN RESPONSE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286500" y="32194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Pearson Hardman scenario with cross-matter breach caught in real time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86500" y="342900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FastAPI server with HTML dashboard and live agent simulation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86500" y="36385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Legal privilege mode, HIPAA mode, YAML policy engine, canary tokens, multi-turn detection, persistent reputation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86500" y="384810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Live AI agent with GPT-4o-mini making real decisions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86500" y="40576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 PDF compliance report a CISO can submit to a regulator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90500" y="4419600"/>
            <a:ext cx="1181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iteration. This is a rebuild informed by real feedback, real testing, and 384 real decisions processed.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4667250"/>
            <a:ext cx="12192000" cy="1962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66725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66725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2400" y="470535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SIMULATION EVIDENCE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52400" y="4953000"/>
            <a:ext cx="5867400" cy="102870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266700" y="5372100"/>
            <a:ext cx="563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SCREENSHOT: Agent simulation - four agents at corners, middleware center, animated lines, live feed panel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6172200" y="4953000"/>
            <a:ext cx="5867400" cy="102870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286500" y="5372100"/>
            <a:ext cx="563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SCREENSHOT: Audit log table - AUTO green and BLOCK red decisions from real simulation run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90500" y="60769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Left: Four autonomous agents operating simultaneously at Pearson Hardman with routine green traffic interrupted by scripted red BLOCK events.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86500" y="60769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Right: Real Cosmos DB audit records from the simulation showing AUTO and BLOCK outcomes side by side.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90500" y="6457950"/>
            <a:ext cx="1181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screenshots are bounded. The evidence below them carries the rest of the density.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Scalability and Future Scope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0" y="419100"/>
            <a:ext cx="12192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191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91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00" y="4572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0" y="704850"/>
            <a:ext cx="3048000" cy="102870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" y="7620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$93.75B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6200" y="10287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Cybersecurity by 2030 | 24.4% CAGR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6200" y="12573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 View Research 2024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6200" y="13906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 growing security category globally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48000" y="704850"/>
            <a:ext cx="3048000" cy="1028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4200" y="7620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$10.82B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124200" y="10287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AI Software by 2030 | 28.3% CAGR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124200" y="12573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MarketsandMarkets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124200" y="13906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Harvey AI: $190M ARR - the market is real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96000" y="704850"/>
            <a:ext cx="3048000" cy="1028700"/>
          </a:xfrm>
          <a:prstGeom prst="rect">
            <a:avLst/>
          </a:prstGeom>
          <a:solidFill>
            <a:srgbClr val="F8FAFC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7620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$56.3B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172200" y="10287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Cybersecurity by 2030 | 18.5% CAGR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172200" y="12573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 View Research 2023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13906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expensive breach industry 14 years running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144000" y="704850"/>
            <a:ext cx="3048000" cy="10287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20200" y="762000"/>
            <a:ext cx="289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$7.42M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220200" y="102870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healthcare breach cost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9220200" y="1257300"/>
            <a:ext cx="2895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2025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220200" y="13906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prevents this at $0.003 per decision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90500" y="1733550"/>
            <a:ext cx="1181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addressable market across all three verticals exceeds $160B by 2030. AgentGuard addresses all three with one product.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0" y="1866900"/>
            <a:ext cx="1219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18669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1866900"/>
            <a:ext cx="38100" cy="2095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2400" y="19050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 STRATEGY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2152650"/>
            <a:ext cx="406400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3350" y="2228850"/>
            <a:ext cx="37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| NOW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3350" y="2419350"/>
            <a:ext cx="379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SDK | developer adoption | three deployment configs ship with product | target IT directors at law firms and hospitals deploying AI agents | GitHub repository + pip install agentguard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064000" y="2152650"/>
            <a:ext cx="406400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97350" y="2228850"/>
            <a:ext cx="37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| Q3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97350" y="2419350"/>
            <a:ext cx="379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Marketplace listing | AutoGen + Semantic Kernel native integrations | fine-tuned local model for air-gapped hospital deployments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128000" y="2152650"/>
            <a:ext cx="4064000" cy="8572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61350" y="2228850"/>
            <a:ext cx="3797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| 2027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61350" y="2419350"/>
            <a:ext cx="379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custom deployments | custom risk models trained on client data | multi-tenant SaaS | white-glove professional services | Azure partner program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3009900"/>
            <a:ext cx="12192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3009900"/>
            <a:ext cx="6096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96000" y="3009900"/>
            <a:ext cx="60960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3009900"/>
            <a:ext cx="6096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3009900"/>
            <a:ext cx="38100" cy="2095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2400" y="3048000"/>
            <a:ext cx="5791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CHALLENGES - HONEST LIMITATIONS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96000" y="3009900"/>
            <a:ext cx="6096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96000" y="3009900"/>
            <a:ext cx="38100" cy="209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48400" y="3048000"/>
            <a:ext cx="5791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 PROOF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96000" y="3219450"/>
            <a:ext cx="0" cy="188595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0500" y="3333750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Quality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905000" y="3333750"/>
            <a:ext cx="3905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effectiveness depends on YAML correctness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90500" y="354330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Three validated configs ship with the product.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90500" y="3886200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Testing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905000" y="3886200"/>
            <a:ext cx="3905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at 384 decisions; production load testing not yet complete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90500" y="409575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Cosmos DB plus Container Apps were chosen for enterprise scale.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90500" y="4438650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Escalation Routing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905000" y="4438650"/>
            <a:ext cx="3905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Slack and email alerts are not yet wired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90500" y="4648200"/>
            <a:ext cx="561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261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Mitigation: Cosmos DB record remains the source of truth; Phase 2 closes the loop.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86500" y="340995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$0.003 per decision with caching. 10,000 decisions per day = $30. Pre-filter stays at $0 for obvious threats.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286500" y="386715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Pre-filter handles dangerous patterns in under 1ms at zero API cost and scales horizontally with no bottleneck.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286500" y="432435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codebase serves finance, legal, and healthcare. New domain = one new YAML file. Zero code changes required.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286500" y="4800600"/>
            <a:ext cx="561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uses Azure services designed for millions of records and concurrent requests.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0" y="5105400"/>
            <a:ext cx="121920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51054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5105400"/>
            <a:ext cx="38100" cy="2095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2400" y="51435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MOAT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33350" y="542925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Reputation Score | Persistent cross-session trust | No competitor has this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181350" y="542925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Multi-Turn Detection | Reconnaissance pattern catching | No competitor has this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229350" y="542925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Tokens | Exfiltration fingerprinting | No competitor has this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9277350" y="5429250"/>
            <a:ext cx="278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YAML Engine | Infinite configurability | No competitor has this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0" y="5981700"/>
            <a:ext cx="12192000" cy="647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0" y="5981700"/>
            <a:ext cx="12192000" cy="20955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5981700"/>
            <a:ext cx="38100" cy="20955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2400" y="6019800"/>
            <a:ext cx="11887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TAILWINDS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33350" y="6286500"/>
            <a:ext cx="379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- August 2026 enforcement - requires traceable AI decisions. AgentGuard provides this today.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197350" y="6286500"/>
            <a:ext cx="379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HIPAA Security Rule 2024 amendments explicitly address AI systems handling ePHI. AgentGuard enforces this.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261350" y="6286500"/>
            <a:ext cx="379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Colorado AI Act - June 2026 - risk management and transparency for high-risk AI. AgentGuard compliance report covers this.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4191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C1424"/>
          </a:solidFill>
          <a:ln w="12700">
            <a:solidFill>
              <a:srgbClr val="0C14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" y="95250"/>
            <a:ext cx="85725" cy="85725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7175" y="95250"/>
            <a:ext cx="85725" cy="85725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" y="200025"/>
            <a:ext cx="85725" cy="85725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175" y="200025"/>
            <a:ext cx="85725" cy="85725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0050" y="9525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714500" y="762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| Closing Vision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72750" y="76200"/>
            <a:ext cx="1466850" cy="266700"/>
          </a:xfrm>
          <a:prstGeom prst="rect">
            <a:avLst/>
          </a:prstGeom>
          <a:solidFill>
            <a:srgbClr val="132744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8950" y="142875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UNLOCKED | TRUSTWORTHY AI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52400" y="6677025"/>
            <a:ext cx="304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AgentGuard | Microsoft AI Unlocked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1430000" y="6677025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9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762000" y="533400"/>
            <a:ext cx="10668000" cy="952500"/>
          </a:xfrm>
          <a:prstGeom prst="rect">
            <a:avLst/>
          </a:prstGeom>
          <a:solidFill>
            <a:srgbClr val="10182B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2500" y="666750"/>
            <a:ext cx="10287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VISION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3000" y="876300"/>
            <a:ext cx="9906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AgentGuard is the compliance layer that makes AI agent deployments auditable, accountable, and safe to run in production - without changing a single line of agent code.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1562100"/>
            <a:ext cx="12192000" cy="1714500"/>
          </a:xfrm>
          <a:prstGeom prst="rect">
            <a:avLst/>
          </a:prstGeom>
          <a:solidFill>
            <a:srgbClr val="0A0E1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450" y="1695450"/>
            <a:ext cx="372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EXISTS TODAY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71450" y="1943100"/>
            <a:ext cx="37211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FastAPI server | real REST endpoints | POST /intercept + POST /confirm + GET /status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 decisions processed | 159 blocked | 225 auto-executed | 425 PII entities masked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+ healthcare domain modes | 7 agents | 4 scripted simulation events | PDF compliance reports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deployment configs | YAML policy engine | agent reputation persistence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35450" y="1695450"/>
            <a:ext cx="372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ARE BUILDING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235450" y="1943100"/>
            <a:ext cx="37211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Marketplace listing | AutoGen native integration | Semantic Kernel integration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Fine-tuned local model | air-gapped hospital deployments | patient data never leaves network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custom risk models trained on client data | multi-tenant SaaS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alert routing | Slack + email escalation notifications | Phase 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99450" y="1695450"/>
            <a:ext cx="3721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 NOW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8299450" y="1943100"/>
            <a:ext cx="37211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87% of enterprises already have agents - every one is a potential customer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August 2026 | HIPAA AI amendments | Colorado AI Act June 2026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'Show me your guardrails' is now a procurement question, not a nice-to-have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compliance layer for AI agents does not exist at scale - AgentGuard is building it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0" y="3276600"/>
            <a:ext cx="12192000" cy="1676400"/>
          </a:xfrm>
          <a:prstGeom prst="rect">
            <a:avLst/>
          </a:prstGeom>
          <a:solidFill>
            <a:srgbClr val="0A0E1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500" y="3371850"/>
            <a:ext cx="10287000" cy="1238250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66800" y="3895725"/>
            <a:ext cx="1005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SCREENSHOT: Raw Cosmos DB JSON record - BLOCK decision | agent_id: research-bot-001 | risk_score: 98 | tier: block | cross_matter_access: true | canary_triggered: false | cosmos_logged: true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952500" y="4686300"/>
            <a:ext cx="1028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real audit record from a real pipeline run. This is what accountability looks like.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4953000"/>
            <a:ext cx="12192000" cy="876300"/>
          </a:xfrm>
          <a:prstGeom prst="rect">
            <a:avLst/>
          </a:prstGeom>
          <a:solidFill>
            <a:srgbClr val="10182B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1450" y="5200650"/>
            <a:ext cx="3721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 real decisions | Azure Cosmos DB | not simulated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35450" y="5200650"/>
            <a:ext cx="3721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Auditable. Accountable. Safe. Without changing a single line of agent code.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99450" y="5200650"/>
            <a:ext cx="3721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Sarangan Srinivasan | Krishna Gera | Saanvi Bansal | Teen Bhai Teeno Tabahi | Manipal Institute of Technology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0" y="5829300"/>
            <a:ext cx="12192000" cy="8001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500" y="5962650"/>
            <a:ext cx="1181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OpenAI | Azure Cosmos DB | Azure AI Content Safety | Microsoft Presidio | FastAPI | Azure Container Apps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0500" y="6191250"/>
            <a:ext cx="1181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AI Unlocked | Track 5: Trustworthy AI | Top 54 Finalist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90500" y="6381750"/>
            <a:ext cx="1181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Microsoft Azure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AgentGuard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AgentGuard Presentation v2</dc:title>
  <dc:subject>AgentGuard Microsoft AI Unlocked Presentation v2</dc:subject>
  <dc:creator>OpenAI Codex</dc:creator>
  <cp:lastModifiedBy>OpenAI Codex</cp:lastModifiedBy>
  <cp:revision>1</cp:revision>
  <dcterms:created xsi:type="dcterms:W3CDTF">2026-03-26T05:42:35Z</dcterms:created>
  <dcterms:modified xsi:type="dcterms:W3CDTF">2026-03-26T05:42:35Z</dcterms:modified>
</cp:coreProperties>
</file>